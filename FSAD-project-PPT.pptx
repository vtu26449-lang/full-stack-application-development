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Default Extension="svg" ContentType="image/svg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9" r:id="rId12"/>
    <p:sldId id="267" r:id="rId13"/>
    <p:sldId id="268" r:id="rId14"/>
    <p:sldId id="270" r:id="rId15"/>
    <p:sldId id="265" r:id="rId16"/>
  </p:sldIdLst>
  <p:sldSz cx="18288000" cy="10287000"/>
  <p:notesSz cx="6858000" cy="9144000"/>
  <p:embeddedFontLst>
    <p:embeddedFont>
      <p:font typeface="Calibri" pitchFamily="34" charset="0"/>
      <p:regular r:id="rId17"/>
      <p:bold r:id="rId18"/>
      <p:italic r:id="rId19"/>
      <p:boldItalic r:id="rId20"/>
    </p:embeddedFont>
    <p:embeddedFont>
      <p:font typeface="Cambria" pitchFamily="18" charset="0"/>
      <p:regular r:id="rId21"/>
      <p:bold r:id="rId22"/>
      <p:italic r:id="rId23"/>
      <p:boldItalic r:id="rId24"/>
    </p:embeddedFont>
    <p:embeddedFont>
      <p:font typeface="Bookman Old Style" pitchFamily="18" charset="0"/>
      <p:regular r:id="rId25"/>
      <p:bold r:id="rId26"/>
      <p:italic r:id="rId27"/>
      <p:boldItalic r:id="rId28"/>
    </p:embeddedFont>
    <p:embeddedFont>
      <p:font typeface="Gotham" charset="0"/>
      <p:regular r:id="rId29"/>
    </p:embeddedFont>
    <p:embeddedFont>
      <p:font typeface="Gotham Bold Italics" charset="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0033CC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-520" y="-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-9965724" y="-1383136"/>
            <a:ext cx="10994424" cy="10994424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xmlns="" id="{1194AAA3-5CF4-E695-04C9-0894FFF6F1F1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10443" y="196689"/>
            <a:ext cx="4752247" cy="136061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xmlns="" id="{BB0EB85C-D9CE-08DC-1131-77C9DD1A002D}"/>
              </a:ext>
            </a:extLst>
          </p:cNvPr>
          <p:cNvSpPr txBox="1"/>
          <p:nvPr/>
        </p:nvSpPr>
        <p:spPr>
          <a:xfrm>
            <a:off x="1360002" y="1608482"/>
            <a:ext cx="159258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Vel Tech Rangarajan Dr. Sagunthala R&amp;D Institute of Science and Technology</a:t>
            </a:r>
          </a:p>
          <a:p>
            <a:pPr algn="ctr"/>
            <a:r>
              <a:rPr lang="en-US" sz="3600" b="1" dirty="0">
                <a:latin typeface="Cambria" panose="02040503050406030204" pitchFamily="18" charset="0"/>
                <a:ea typeface="Cambria" panose="02040503050406030204" pitchFamily="18" charset="0"/>
              </a:rPr>
              <a:t>School of Computing </a:t>
            </a:r>
          </a:p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Department of Computer Science and Engineering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xmlns="" id="{55785AF5-58C8-2624-E1FD-4723B0683DE6}"/>
              </a:ext>
            </a:extLst>
          </p:cNvPr>
          <p:cNvSpPr txBox="1"/>
          <p:nvPr/>
        </p:nvSpPr>
        <p:spPr>
          <a:xfrm>
            <a:off x="1692835" y="3272357"/>
            <a:ext cx="152601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0033CC"/>
                </a:solidFill>
                <a:latin typeface="Bookman Old Style" panose="02050604050505020204" pitchFamily="18" charset="0"/>
              </a:rPr>
              <a:t>10211CS224 / FULL STACK APPLICATION DEVELOPMENT (JAVA)</a:t>
            </a:r>
            <a:endParaRPr lang="en-IN" sz="2800" b="1" dirty="0">
              <a:solidFill>
                <a:srgbClr val="0033CC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xmlns="" id="{AC6C53BF-3850-6683-E07F-D595EC8B02B2}"/>
              </a:ext>
            </a:extLst>
          </p:cNvPr>
          <p:cNvSpPr txBox="1"/>
          <p:nvPr/>
        </p:nvSpPr>
        <p:spPr>
          <a:xfrm>
            <a:off x="3727757" y="3897940"/>
            <a:ext cx="111902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REVIEW : MILESTONE PROJECT – 1</a:t>
            </a:r>
          </a:p>
          <a:p>
            <a:pPr algn="ctr"/>
            <a:endParaRPr lang="en-IN" sz="36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3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</a:t>
            </a:r>
            <a:r>
              <a:rPr lang="en-IN" sz="36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IN" sz="3600" b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23-03-2026</a:t>
            </a:r>
            <a:endParaRPr lang="en-IN" sz="36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7FFE0DA2-4723-7C13-5FD7-FC99B0394DDD}"/>
              </a:ext>
            </a:extLst>
          </p:cNvPr>
          <p:cNvSpPr txBox="1"/>
          <p:nvPr/>
        </p:nvSpPr>
        <p:spPr>
          <a:xfrm>
            <a:off x="1501640" y="6057900"/>
            <a:ext cx="1578416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 smtClean="0"/>
              <a:t>Dynamic Online Examination &amp; Result Processing System</a:t>
            </a:r>
            <a:endParaRPr lang="en-IN" sz="44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EA8EEF4A-EB43-B7D9-87FC-7C7D752BCA78}"/>
              </a:ext>
            </a:extLst>
          </p:cNvPr>
          <p:cNvSpPr txBox="1"/>
          <p:nvPr/>
        </p:nvSpPr>
        <p:spPr>
          <a:xfrm>
            <a:off x="893870" y="7800539"/>
            <a:ext cx="9067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mbria" panose="02040503050406030204" pitchFamily="18" charset="0"/>
                <a:ea typeface="Cambria" panose="02040503050406030204" pitchFamily="18" charset="0"/>
              </a:rPr>
              <a:t>Presented By:</a:t>
            </a:r>
          </a:p>
          <a:p>
            <a:pPr>
              <a:lnSpc>
                <a:spcPct val="150000"/>
              </a:lnSpc>
            </a:pPr>
            <a:r>
              <a:rPr lang="en-US" sz="3000" dirty="0" smtClean="0">
                <a:latin typeface="Cambria" panose="02040503050406030204" pitchFamily="18" charset="0"/>
                <a:ea typeface="Cambria" panose="02040503050406030204" pitchFamily="18" charset="0"/>
              </a:rPr>
              <a:t>D.CHINMAYI </a:t>
            </a: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– </a:t>
            </a:r>
            <a:r>
              <a:rPr lang="en-US" sz="3000" dirty="0" smtClean="0">
                <a:latin typeface="Cambria" panose="02040503050406030204" pitchFamily="18" charset="0"/>
                <a:ea typeface="Cambria" panose="02040503050406030204" pitchFamily="18" charset="0"/>
              </a:rPr>
              <a:t>VTU26449– Reg.No.23UECS0153</a:t>
            </a:r>
            <a:endParaRPr lang="en-IN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6FF32D1A-2F9C-AC53-CCBD-ABF748DF236F}"/>
              </a:ext>
            </a:extLst>
          </p:cNvPr>
          <p:cNvSpPr txBox="1"/>
          <p:nvPr/>
        </p:nvSpPr>
        <p:spPr>
          <a:xfrm>
            <a:off x="10945035" y="7818586"/>
            <a:ext cx="6914603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mbria" panose="02040503050406030204" pitchFamily="18" charset="0"/>
                <a:ea typeface="Cambria" panose="02040503050406030204" pitchFamily="18" charset="0"/>
              </a:rPr>
              <a:t>Courses Handling Faculty:</a:t>
            </a:r>
          </a:p>
          <a:p>
            <a:pPr>
              <a:lnSpc>
                <a:spcPct val="150000"/>
              </a:lnSpc>
            </a:pPr>
            <a:r>
              <a:rPr lang="en-US" sz="3000" dirty="0" smtClean="0">
                <a:latin typeface="Cambria" panose="02040503050406030204" pitchFamily="18" charset="0"/>
                <a:ea typeface="Cambria" panose="02040503050406030204" pitchFamily="18" charset="0"/>
              </a:rPr>
              <a:t>Dr. S. </a:t>
            </a:r>
            <a:r>
              <a:rPr lang="en-US" sz="3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Hemamalini</a:t>
            </a:r>
            <a:r>
              <a:rPr lang="en-US" sz="3000" smtClean="0">
                <a:latin typeface="Cambria" panose="02040503050406030204" pitchFamily="18" charset="0"/>
                <a:ea typeface="Cambria" panose="02040503050406030204" pitchFamily="18" charset="0"/>
              </a:rPr>
              <a:t>.,</a:t>
            </a:r>
            <a:r>
              <a:rPr lang="en-US" sz="3200" smtClean="0"/>
              <a:t> M.E., Ph.D.</a:t>
            </a:r>
            <a:endParaRPr lang="en-US" sz="3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3200" dirty="0" smtClean="0"/>
              <a:t>Assistant Professor (Senior Grade)</a:t>
            </a:r>
            <a:endParaRPr lang="en-IN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A7AA51DE-E8D7-A1B4-BC0D-B25C8A0C467A}"/>
              </a:ext>
            </a:extLst>
          </p:cNvPr>
          <p:cNvSpPr txBox="1"/>
          <p:nvPr/>
        </p:nvSpPr>
        <p:spPr>
          <a:xfrm>
            <a:off x="2133600" y="6972300"/>
            <a:ext cx="147431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SDG: SDG No </a:t>
            </a:r>
            <a:r>
              <a:rPr lang="en-US" sz="32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–4 ( </a:t>
            </a:r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Quality Education)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8"/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706082" y="1952203"/>
            <a:ext cx="992463" cy="992463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48235" y="4447339"/>
            <a:ext cx="508158" cy="543805"/>
            <a:chOff x="0" y="0"/>
            <a:chExt cx="812800" cy="86981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48235" y="3107362"/>
            <a:ext cx="508158" cy="543805"/>
            <a:chOff x="0" y="0"/>
            <a:chExt cx="812800" cy="86981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48235" y="5115753"/>
            <a:ext cx="508158" cy="543805"/>
            <a:chOff x="0" y="0"/>
            <a:chExt cx="812800" cy="86981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48235" y="3776486"/>
            <a:ext cx="508158" cy="543805"/>
            <a:chOff x="0" y="0"/>
            <a:chExt cx="812800" cy="86981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48235" y="6455730"/>
            <a:ext cx="508158" cy="543805"/>
            <a:chOff x="0" y="0"/>
            <a:chExt cx="812800" cy="86981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8235" y="5784877"/>
            <a:ext cx="508158" cy="543805"/>
            <a:chOff x="0" y="0"/>
            <a:chExt cx="812800" cy="869819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48235" y="7123361"/>
            <a:ext cx="508158" cy="543805"/>
            <a:chOff x="0" y="0"/>
            <a:chExt cx="812800" cy="86981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48235" y="7790991"/>
            <a:ext cx="508158" cy="543805"/>
            <a:chOff x="0" y="0"/>
            <a:chExt cx="812800" cy="869819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E796552-E8BF-2718-F921-20F9BAE7EE98}"/>
              </a:ext>
            </a:extLst>
          </p:cNvPr>
          <p:cNvSpPr txBox="1"/>
          <p:nvPr/>
        </p:nvSpPr>
        <p:spPr>
          <a:xfrm>
            <a:off x="152400" y="342900"/>
            <a:ext cx="1813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837E9E58-77B6-079D-9D0D-E380CADAD23D}"/>
              </a:ext>
            </a:extLst>
          </p:cNvPr>
          <p:cNvSpPr txBox="1"/>
          <p:nvPr/>
        </p:nvSpPr>
        <p:spPr>
          <a:xfrm>
            <a:off x="2438400" y="1638300"/>
            <a:ext cx="14853725" cy="1449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200" dirty="0" smtClean="0"/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Traditional examination systems are manual, time-consuming, and prone to errors in evaluation and result processing.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Managing large numbers of students, question papers, and results becomes difficult without automation.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This project is important because it ensures faster, accurate, and secure examination management.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It reduces paperwork, minimizes human errors, and saves time for institutions and students.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In the real world, schools, colleges, and competitive exam bodies require efficient online assessment platforms.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The system supports automated question generation, online test conduction, and instant result calculation.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It provides secure login, performance analysis, and result storage in a centralized database.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Overall, it improves transparency, efficiency, and reliability in the examination process.</a:t>
            </a:r>
          </a:p>
          <a:p>
            <a:pPr marL="457200" indent="-457200"/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/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709357" y="2648112"/>
            <a:ext cx="992463" cy="992463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1509" y="4428296"/>
            <a:ext cx="508158" cy="543805"/>
            <a:chOff x="0" y="0"/>
            <a:chExt cx="812800" cy="869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1509" y="3762533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xmlns="" id="{A8A7B8E9-D90B-1CF8-14D3-8D2483CAFC58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xmlns="" id="{BDE2941C-1504-53F9-99B2-48002CA9A345}"/>
              </a:ext>
            </a:extLst>
          </p:cNvPr>
          <p:cNvSpPr txBox="1"/>
          <p:nvPr/>
        </p:nvSpPr>
        <p:spPr>
          <a:xfrm>
            <a:off x="2514600" y="1638300"/>
            <a:ext cx="14777525" cy="13942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In many educational institutions, examination and result processing are still handled manually or through semi-automated systems.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This leads to delays in conducting exams, evaluating answer sheets, and publishing results.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Manual data entry increases the chances of errors, data loss, and lack of transparency.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Managing large numbers of students, question banks, and performance records becomes complex and time-consuming.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There is limited flexibility in generating dynamic question papers and analyzing student performance instantly.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Security issues such as paper leaks and unauthorized access also affect the reliability of exams.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Hence, there is a need for a secure, automated, and efficient online examination system.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The proposed system aims to conduct exams dynamically and process results quickly with accuracy and transparency.</a:t>
            </a:r>
          </a:p>
          <a:p>
            <a:pPr marL="457200" indent="-457200"/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709357" y="3315742"/>
            <a:ext cx="992463" cy="99246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1509" y="4428296"/>
            <a:ext cx="508158" cy="543805"/>
            <a:chOff x="0" y="0"/>
            <a:chExt cx="812800" cy="8698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51509" y="2648112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xmlns="" id="{5B915D36-EE4F-CB45-6DD3-E1B9C803EB40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OBJECTIVE(S)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Freeform 10">
            <a:extLst>
              <a:ext uri="{FF2B5EF4-FFF2-40B4-BE49-F238E27FC236}">
                <a16:creationId xmlns:a16="http://schemas.microsoft.com/office/drawing/2014/main" xmlns="" id="{CC7EEF9B-9155-23B5-AEE9-85067B6C258B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xmlns="" id="{056A0A3A-1541-5EC0-5370-02DA282ABDDE}"/>
              </a:ext>
            </a:extLst>
          </p:cNvPr>
          <p:cNvSpPr txBox="1"/>
          <p:nvPr/>
        </p:nvSpPr>
        <p:spPr>
          <a:xfrm>
            <a:off x="2438400" y="1638300"/>
            <a:ext cx="14853725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To design and develop a secure web-based system for conducting dynamic online examinations and automated result processing.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To implement real-time evaluation and instant result generation with accurate performance analysis for students.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To improve the efficiency and accuracy of exam management by reducing manual work and minimizing errors.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To evaluate the performance of students through automated reports and analytical dashboards.</a:t>
            </a:r>
          </a:p>
          <a:p>
            <a:pPr marL="457200" indent="-457200"/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709357" y="3983373"/>
            <a:ext cx="992463" cy="992463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51509" y="3315742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1509" y="2648112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5" name="Freeform 10">
            <a:extLst>
              <a:ext uri="{FF2B5EF4-FFF2-40B4-BE49-F238E27FC236}">
                <a16:creationId xmlns:a16="http://schemas.microsoft.com/office/drawing/2014/main" xmlns="" id="{D5D1FD99-C9A7-927E-AD67-E70F11DBAAA2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xmlns="" id="{E7218D14-8F44-8040-8BFD-49A59591F527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xmlns="" id="{E8F19716-1653-9AE0-442E-B3829A585B46}"/>
              </a:ext>
            </a:extLst>
          </p:cNvPr>
          <p:cNvSpPr txBox="1"/>
          <p:nvPr/>
        </p:nvSpPr>
        <p:spPr>
          <a:xfrm>
            <a:off x="2438400" y="1638300"/>
            <a:ext cx="14853725" cy="135729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The proposed system is a web-based platform that conducts online examinations and automatically processes results.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It provides secure login access for administrators, faculty, and students with role-based permissions.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The system generates dynamic question papers from a centralized question bank to reduce repetition and malpractice.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It performs automatic evaluation of objective-type answers and instantly calculates results.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The system stores all exam data, marks, and reports in a centralized database for easy access and management.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It solves existing issues such as manual errors, delayed result publication, and paper leakage risks.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Compared to traditional systems, it saves time, reduces paperwork, and improves transparency.</a:t>
            </a:r>
          </a:p>
          <a:p>
            <a:pPr algn="just">
              <a:buFont typeface="Wingdings" pitchFamily="2" charset="2"/>
              <a:buChar char="Ø"/>
            </a:pPr>
            <a:r>
              <a:rPr lang="en-US" sz="3200" dirty="0" smtClean="0"/>
              <a:t>Overall, it offers higher accuracy, better security, real-time performance analysis, and efficient exam management.</a:t>
            </a:r>
          </a:p>
          <a:p>
            <a:pPr marL="914400" lvl="1" indent="-457200"/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709357" y="4655766"/>
            <a:ext cx="992463" cy="99246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51509" y="3320505"/>
            <a:ext cx="508158" cy="543805"/>
            <a:chOff x="0" y="0"/>
            <a:chExt cx="812800" cy="86981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51509" y="1987111"/>
            <a:ext cx="508158" cy="543805"/>
            <a:chOff x="0" y="0"/>
            <a:chExt cx="812800" cy="86981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1509" y="3988135"/>
            <a:ext cx="508158" cy="543805"/>
            <a:chOff x="0" y="0"/>
            <a:chExt cx="812800" cy="869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1509" y="2652874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1509" y="6430348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1509" y="5764584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1509" y="7088453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1509" y="7756083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1" name="Freeform 10">
            <a:extLst>
              <a:ext uri="{FF2B5EF4-FFF2-40B4-BE49-F238E27FC236}">
                <a16:creationId xmlns:a16="http://schemas.microsoft.com/office/drawing/2014/main" xmlns="" id="{01BC0C31-7FCD-94EE-8B85-19FBC227565C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xmlns="" id="{A4B3B85F-0C7B-16B9-6D50-94A4DFD2D192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ARCHITECTURE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xmlns="" id="{25F9D4B0-38FE-DBA4-164D-1745B68379A5}"/>
              </a:ext>
            </a:extLst>
          </p:cNvPr>
          <p:cNvSpPr txBox="1"/>
          <p:nvPr/>
        </p:nvSpPr>
        <p:spPr>
          <a:xfrm>
            <a:off x="2362200" y="1409700"/>
            <a:ext cx="14929925" cy="12649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 smtClean="0"/>
          </a:p>
          <a:p>
            <a:endParaRPr lang="en-US" sz="3200" b="1" dirty="0" smtClean="0"/>
          </a:p>
          <a:p>
            <a:endParaRPr lang="en-US" sz="3200" b="1" dirty="0" smtClean="0"/>
          </a:p>
          <a:p>
            <a:endParaRPr lang="en-US" sz="3200" b="1" dirty="0" smtClean="0"/>
          </a:p>
          <a:p>
            <a:r>
              <a:rPr lang="en-US" sz="3200" b="1" dirty="0" smtClean="0"/>
              <a:t>Input: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Student registration details, login credentials, exam information, question bank data, and student answers during the exam.</a:t>
            </a:r>
          </a:p>
          <a:p>
            <a:r>
              <a:rPr lang="en-US" sz="3200" b="1" dirty="0" smtClean="0"/>
              <a:t>Processing: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User authentication, dynamic question paper generation, automatic answer evaluation, marks calculation, and performance analysis.</a:t>
            </a:r>
          </a:p>
          <a:p>
            <a:r>
              <a:rPr lang="en-US" sz="3200" b="1" dirty="0" smtClean="0"/>
              <a:t>Database: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Stores student data, question bank, exam details, responses, and result records securely in a centralized system.</a:t>
            </a:r>
          </a:p>
          <a:p>
            <a:r>
              <a:rPr lang="en-US" sz="3200" b="1" dirty="0" smtClean="0"/>
              <a:t>Output: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Instant result display, mark sheets, performance reports, and administrative analysis reports.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362200" y="1714500"/>
            <a:ext cx="13563600" cy="144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>
            <a:off x="735588" y="5318634"/>
            <a:ext cx="992463" cy="992463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77741" y="6425585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6" name="Freeform 10">
            <a:extLst>
              <a:ext uri="{FF2B5EF4-FFF2-40B4-BE49-F238E27FC236}">
                <a16:creationId xmlns:a16="http://schemas.microsoft.com/office/drawing/2014/main" xmlns="" id="{3663A130-069F-2D83-78E7-4DA0FE7AAC6E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xmlns="" id="{1B156733-A733-69AA-7523-59650E125994}"/>
              </a:ext>
            </a:extLst>
          </p:cNvPr>
          <p:cNvSpPr txBox="1"/>
          <p:nvPr/>
        </p:nvSpPr>
        <p:spPr>
          <a:xfrm>
            <a:off x="190500" y="315938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xmlns="" id="{D04F3B99-A5D2-54DC-51CD-4E86A99D3EA2}"/>
              </a:ext>
            </a:extLst>
          </p:cNvPr>
          <p:cNvSpPr txBox="1"/>
          <p:nvPr/>
        </p:nvSpPr>
        <p:spPr>
          <a:xfrm>
            <a:off x="2362200" y="1638300"/>
            <a:ext cx="1492992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2019300"/>
            <a:ext cx="12420600" cy="701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9"/>
          <p:cNvGrpSpPr/>
          <p:nvPr/>
        </p:nvGrpSpPr>
        <p:grpSpPr>
          <a:xfrm>
            <a:off x="735588" y="5976927"/>
            <a:ext cx="992463" cy="992463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6" name="Freeform 10">
            <a:extLst>
              <a:ext uri="{FF2B5EF4-FFF2-40B4-BE49-F238E27FC236}">
                <a16:creationId xmlns:a16="http://schemas.microsoft.com/office/drawing/2014/main" xmlns="" id="{307389F6-23D0-83F6-DD02-F20D61DADE76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xmlns="" id="{E4ED097B-FECF-66E6-2A98-0F8B4D948FC8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xmlns="" id="{26E9F5F9-CCF8-6F05-4C01-034C88D7529E}"/>
              </a:ext>
            </a:extLst>
          </p:cNvPr>
          <p:cNvSpPr txBox="1"/>
          <p:nvPr/>
        </p:nvSpPr>
        <p:spPr>
          <a:xfrm>
            <a:off x="2438400" y="1638300"/>
            <a:ext cx="14853725" cy="115416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3200" b="1" dirty="0" smtClean="0"/>
              <a:t>Frontend: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HTML, CSS, JavaScript (for user interface and responsive design).</a:t>
            </a:r>
          </a:p>
          <a:p>
            <a:pPr>
              <a:buFont typeface="Wingdings" pitchFamily="2" charset="2"/>
              <a:buChar char="Ø"/>
            </a:pPr>
            <a:r>
              <a:rPr lang="en-US" sz="3200" b="1" dirty="0" smtClean="0"/>
              <a:t>Backend: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Java (</a:t>
            </a:r>
            <a:r>
              <a:rPr lang="en-US" sz="3200" dirty="0" err="1" smtClean="0"/>
              <a:t>Servlets</a:t>
            </a:r>
            <a:r>
              <a:rPr lang="en-US" sz="3200" dirty="0" smtClean="0"/>
              <a:t>/JSP) or PHP  for handling server-side logic and exam processing.</a:t>
            </a:r>
          </a:p>
          <a:p>
            <a:pPr>
              <a:buFont typeface="Wingdings" pitchFamily="2" charset="2"/>
              <a:buChar char="Ø"/>
            </a:pPr>
            <a:r>
              <a:rPr lang="en-US" sz="3200" b="1" dirty="0" smtClean="0"/>
              <a:t>Database: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err="1" smtClean="0"/>
              <a:t>MySQL</a:t>
            </a:r>
            <a:r>
              <a:rPr lang="en-US" sz="3200" dirty="0" smtClean="0"/>
              <a:t>  for storing student details, question bank, exam data, and results.</a:t>
            </a:r>
          </a:p>
          <a:p>
            <a:pPr>
              <a:buFont typeface="Wingdings" pitchFamily="2" charset="2"/>
              <a:buChar char="Ø"/>
            </a:pPr>
            <a:r>
              <a:rPr lang="en-US" sz="3200" b="1" dirty="0" smtClean="0"/>
              <a:t>Tools: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VS Code for version control.</a:t>
            </a:r>
          </a:p>
          <a:p>
            <a:pPr>
              <a:buFont typeface="Wingdings" pitchFamily="2" charset="2"/>
              <a:buChar char="Ø"/>
            </a:pPr>
            <a:r>
              <a:rPr lang="en-US" sz="3200" b="1" dirty="0" smtClean="0"/>
              <a:t>Hardware/Software Requirements: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Minimum 4GB RAM, Dual-Core Processor, Windows/Linux OS, Web Browser (Chrome/Edge/Firefox), Stable Internet Connection.</a:t>
            </a:r>
          </a:p>
          <a:p>
            <a:pPr marL="457200" indent="-457200"/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/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/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xmlns="" id="{9A1BCE7C-890E-A01E-691E-1D3D07CF6333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9304C197-EAC7-7A26-FAED-ED7302DBEC6E}"/>
              </a:ext>
            </a:extLst>
          </p:cNvPr>
          <p:cNvSpPr txBox="1"/>
          <p:nvPr/>
        </p:nvSpPr>
        <p:spPr>
          <a:xfrm>
            <a:off x="2438400" y="1638300"/>
            <a:ext cx="14853725" cy="90178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3200" b="1" dirty="0" smtClean="0"/>
              <a:t>Module 1: User Management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Handles student, faculty, and admin registration, login, and role-based authentication to ensure secure system access.</a:t>
            </a:r>
          </a:p>
          <a:p>
            <a:pPr>
              <a:buFont typeface="Wingdings" pitchFamily="2" charset="2"/>
              <a:buChar char="Ø"/>
            </a:pPr>
            <a:r>
              <a:rPr lang="en-US" sz="3200" b="1" dirty="0" smtClean="0"/>
              <a:t>Module 2: Examination Management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Manages exam creation, scheduling, dynamic question paper generation, and timer-based online test conduction.</a:t>
            </a:r>
          </a:p>
          <a:p>
            <a:pPr>
              <a:buFont typeface="Wingdings" pitchFamily="2" charset="2"/>
              <a:buChar char="Ø"/>
            </a:pPr>
            <a:r>
              <a:rPr lang="en-US" sz="3200" b="1" dirty="0" smtClean="0"/>
              <a:t>Module 3: Evaluation &amp; Result Processing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Automatically evaluates objective answers, calculates marks, and generates instant results with performance analysis.</a:t>
            </a:r>
          </a:p>
          <a:p>
            <a:pPr>
              <a:buFont typeface="Wingdings" pitchFamily="2" charset="2"/>
              <a:buChar char="Ø"/>
            </a:pPr>
            <a:r>
              <a:rPr lang="en-US" sz="3200" b="1" dirty="0" smtClean="0"/>
              <a:t>Module 4: Database &amp; Reporting Management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Stores student data, question banks, and result records securely, and generates detailed reports and analytical summaries for administrators.</a:t>
            </a:r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E0BFBA1B-7EE7-47B6-41F3-C4B61A979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xmlns="" id="{D8CD5C70-566B-9213-9F31-546BB621CCAF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xmlns="" id="{7EBAE7EB-82E8-3AF5-3C43-EA7688F7325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xmlns="" id="{5294143A-C171-B89D-02DF-136CB32B43C9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xmlns="" id="{811A371D-2A07-AABC-E66C-143D37E0F12C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xmlns="" id="{2F7BDC7D-6911-7D85-E73A-2061DE32440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xmlns="" id="{6DEA2241-E6A3-8051-F424-21070A5DF29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xmlns="" id="{4DD3D6A9-1C97-9943-C984-B50356BAE3FF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xmlns="" id="{6BB1489C-F4F8-D62E-3AD9-3CAA028A426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xmlns="" id="{A4A64A6E-EA7C-DFF0-C280-5041CD8B135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xmlns="" id="{BE5FF856-5043-C428-B45A-4C00BF9D3418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xmlns="" id="{CFC7AF72-B76A-8AD8-7E70-BDE8837D662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xmlns="" id="{F6C277EF-EDEF-0F79-B4B2-AB1B3E58301A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xmlns="" id="{A32CD2C6-1D06-729E-1157-B2EAAEA172A4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xmlns="" id="{A222D7EA-F7CE-B4F5-4D06-02860C5AC39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xmlns="" id="{17F695A3-7B3D-00FE-26D6-E53B473BCF1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xmlns="" id="{5A8D3527-DD17-232E-3ECB-BDBFC0FF3DE7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xmlns="" id="{1C3EBC87-5F86-657B-5C0D-7DFFB3C4281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xmlns="" id="{5638183B-03CC-91E5-1C67-EAD126FB6DA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xmlns="" id="{8C4C8B82-0B52-9912-DBAF-71546B2F401E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xmlns="" id="{371F41C0-C399-6E94-B393-623F6ED78C3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xmlns="" id="{05375A05-CD15-FECF-CF37-72BD8B495C3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xmlns="" id="{FFA9D0CA-D989-1DF0-9CD9-7BB1BF37D00D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xmlns="" id="{6D72D40E-C3C8-1774-56F7-396EA1F5463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xmlns="" id="{2A94558C-EEEF-6159-C648-7ED1F2545B1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xmlns="" id="{A8A0868D-7450-B2DC-5A6A-A607E39122E3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xmlns="" id="{227C0AD0-E7DC-50B1-90B8-A6B2DA72DDA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xmlns="" id="{9B60539C-7696-ACA6-9070-BC481578187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xmlns="" id="{90A2A8C1-A254-99B6-B7B0-C5A8A5BB008F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xmlns="" id="{B814A5FC-F17C-8D1A-04C8-1ED6A2AE0E65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xmlns="" id="{2EC11913-1FC3-79C0-FB94-72486D9673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xmlns="" id="{6CB89B22-25E1-321C-5A74-15CF8EBC7CA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xmlns="" id="{35C6402D-9C63-51C1-99A9-4206C0537740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9EC6A4DA-6D4B-3E6A-CF92-E543DD7AFBF5}"/>
              </a:ext>
            </a:extLst>
          </p:cNvPr>
          <p:cNvSpPr txBox="1"/>
          <p:nvPr/>
        </p:nvSpPr>
        <p:spPr>
          <a:xfrm>
            <a:off x="2209800" y="1638300"/>
            <a:ext cx="1508232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/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38" name="Rectangle 37"/>
          <p:cNvSpPr/>
          <p:nvPr/>
        </p:nvSpPr>
        <p:spPr>
          <a:xfrm>
            <a:off x="2438400" y="7734300"/>
            <a:ext cx="145542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 smtClean="0"/>
              <a:t>Explanation: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The home page provides an overview of the system with navigation options like Login, Register, and Exam Information. It offers a user-friendly interface for easy access.</a:t>
            </a:r>
            <a:endParaRPr lang="en-US" sz="32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810000" y="1714500"/>
            <a:ext cx="9372600" cy="518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1998101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B7CF319D-58F2-DF9E-632A-90472F50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xmlns="" id="{ADE101F0-A2BF-16E8-7BEC-541911EA9510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xmlns="" id="{C43B1E5B-104E-DCD5-F042-8DABFE8225A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xmlns="" id="{846A8601-B4CB-7C78-2833-947EEC356CD7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8(A)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xmlns="" id="{1C63788E-DB35-987D-1A89-4C3F169DF70E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xmlns="" id="{676646B6-C6D6-F677-3CA9-56BE5CE444A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xmlns="" id="{3CDDAA79-D530-F622-0CC8-ECE3E95F952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xmlns="" id="{8227745F-FD1B-7135-E88E-D6B924C5CB24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xmlns="" id="{79292FA3-A80E-1540-0024-754AADCDB01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xmlns="" id="{5A8C7117-591A-F089-5F54-0229077FDEA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xmlns="" id="{29278237-7990-A997-2285-EB2F5BB4EF44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xmlns="" id="{F37C1434-DB0E-53EF-4140-56A0F3CD6EA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xmlns="" id="{4FC388C1-59EC-CA17-BA41-9AF3AAD42D8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xmlns="" id="{90F65A21-E49B-9858-6EAD-EBC3142E6239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xmlns="" id="{EFDE14F0-9F59-E35F-B5B7-45C77C56354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xmlns="" id="{E1181869-B448-2B7A-67F5-160B09C76D9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xmlns="" id="{8B27AB66-420C-E7D0-5891-910B564CA2C2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xmlns="" id="{F0605CE2-624E-D2DA-6357-65C5FA138C6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xmlns="" id="{DA9B1286-A8A4-091B-5AF9-F0B275F703E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xmlns="" id="{127DF020-AEA7-8D57-9411-90D58D65D05B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xmlns="" id="{00BA2729-D580-CF8D-87CD-EE786F2E40E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xmlns="" id="{F0B6F8BA-7047-AE2A-DB03-E6846F9FAEA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xmlns="" id="{B5DE7324-71F9-1D79-AB1E-F97481653389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xmlns="" id="{E780ED4E-44DF-E344-CCEA-834D1374F6A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xmlns="" id="{AC7D9CD8-E54E-AD67-D59B-5D4A37A1B41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xmlns="" id="{E3560347-DE50-10F7-9905-7228E593D280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xmlns="" id="{1B9E463A-B010-8D72-6350-7242CB0AAF56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xmlns="" id="{C15BE220-858E-1446-5B56-D3329A06A997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xmlns="" id="{98F156A3-70B1-1344-389E-4B3C64CA921F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xmlns="" id="{A36A5C58-00A3-2FE9-36E4-D92AAF44A0F5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xmlns="" id="{BADF0EED-F663-F70E-9BB3-C0F576114D0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xmlns="" id="{54542349-F329-7DA6-DBD4-7EFA939B989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xmlns="" id="{B6CAD810-8433-9B89-E144-29986E25063F}"/>
              </a:ext>
            </a:extLst>
          </p:cNvPr>
          <p:cNvSpPr txBox="1"/>
          <p:nvPr/>
        </p:nvSpPr>
        <p:spPr>
          <a:xfrm>
            <a:off x="381000" y="4191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746F2C30-13B1-3754-C147-D58A899BC459}"/>
              </a:ext>
            </a:extLst>
          </p:cNvPr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/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2051" name="Rectangle 3"/>
          <p:cNvSpPr>
            <a:spLocks noChangeArrowheads="1"/>
          </p:cNvSpPr>
          <p:nvPr/>
        </p:nvSpPr>
        <p:spPr bwMode="auto">
          <a:xfrm>
            <a:off x="1752600" y="7932123"/>
            <a:ext cx="16230600" cy="1877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sz="2800" b="1" dirty="0" smtClean="0"/>
              <a:t>Explanation:</a:t>
            </a:r>
            <a:endParaRPr kumimoji="0" lang="en-US" sz="2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This screenshot shows the </a:t>
            </a:r>
            <a:r>
              <a:rPr kumimoji="0" lang="en-US" sz="2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Available Examinations</a:t>
            </a:r>
            <a:r>
              <a:rPr kumimoji="0" 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dashboard where the student can choose a subject to start the online </a:t>
            </a:r>
            <a:r>
              <a:rPr kumimoji="0" lang="en-US" sz="2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test.Each</a:t>
            </a:r>
            <a:r>
              <a:rPr kumimoji="0" 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exam card displays details like number of questions, duration, and difficulty level with a secure logout option.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1943100"/>
            <a:ext cx="11430000" cy="556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3981187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C0F4F051-5473-4E78-FEB2-59A87A5FB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xmlns="" id="{66BE183E-F015-FFD4-5C84-C25B4DCE490A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xmlns="" id="{3AEC1772-D597-ACC7-7EF1-FF0460F37AA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xmlns="" id="{46839344-8B05-5C56-F0B1-64E24F458991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8(B)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xmlns="" id="{23B54700-9ABF-8EDD-8B21-24A9248C534D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xmlns="" id="{B99246F8-F6B5-2F2E-2FB4-FAE1DD41DCC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xmlns="" id="{B7CDDD7B-8A9B-223F-951A-473D0C9404F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xmlns="" id="{B3E1A8FC-D0F1-BD05-9C14-C10EAE95E57E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xmlns="" id="{CEB5FB4E-3BF3-BC6A-6692-FE375141E45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xmlns="" id="{38F8F103-F0A5-8F95-A139-8DBEBEF19C2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xmlns="" id="{8C558648-2D59-16EB-3098-EAF5DE978B1F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xmlns="" id="{B168779D-5467-4E78-AD1E-36B5A75A347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xmlns="" id="{8AFC0BB4-20A4-849D-A1E4-FA90A8DDCC7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xmlns="" id="{700D33AC-D53D-0E96-8752-E5DA06AE57A5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xmlns="" id="{14DABAFB-38B3-CE49-B21D-A496D7EC2A6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xmlns="" id="{BE27A610-3BC0-BFBC-2A61-4C157B024EF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xmlns="" id="{6C0E28B4-531C-D2E1-F3C9-B5A98A28B69D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xmlns="" id="{6C193347-3923-7F1F-A580-A7462B158EC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xmlns="" id="{C5DDC20D-7BD0-E255-26F1-86A88AF67CF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xmlns="" id="{9DBB21A1-CAFF-686E-D181-980219283F79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xmlns="" id="{5531A9C5-B561-53EA-BF9A-3BE6A607C1B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xmlns="" id="{D8870C21-3327-4D63-FD34-36BC4799675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xmlns="" id="{4D7C3EBE-FA20-7E4C-13DD-84F1A98618F6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xmlns="" id="{C1E3AE62-1B2B-FE1E-010C-A26C4F613A6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xmlns="" id="{CDA04BD5-C99C-980C-6593-EDEA378D6C3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xmlns="" id="{E77207A6-9552-432B-0793-EB6A88EE3C10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xmlns="" id="{27447A1E-BA0C-26C0-C743-E590A55A653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xmlns="" id="{8D425BCC-6A0F-30CB-18E7-D1E21E871D9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xmlns="" id="{35F87FC1-4854-F9D4-8104-40945AD6A772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xmlns="" id="{C7CF20EF-980A-2D88-E968-DCB5B8BC6CF8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xmlns="" id="{A7A686B7-4E4C-A5FA-60CD-A6EFF9DEAD8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xmlns="" id="{3ECD8D52-6368-578C-BEB2-0B1BA37FD45D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xmlns="" id="{638323CF-7DCB-075F-B739-0F88472F060D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6C0EA81E-D408-1A06-6895-1BF3CA09E497}"/>
              </a:ext>
            </a:extLst>
          </p:cNvPr>
          <p:cNvSpPr txBox="1"/>
          <p:nvPr/>
        </p:nvSpPr>
        <p:spPr>
          <a:xfrm>
            <a:off x="2209800" y="1638300"/>
            <a:ext cx="1508232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38" name="Rectangle 37"/>
          <p:cNvSpPr/>
          <p:nvPr/>
        </p:nvSpPr>
        <p:spPr>
          <a:xfrm>
            <a:off x="2362200" y="7886700"/>
            <a:ext cx="150876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 smtClean="0"/>
              <a:t>Explanation: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This page displays exam questions dynamically with options, a timer, and navigation controls for submitting answers.</a:t>
            </a:r>
            <a:endParaRPr lang="en-US" sz="3200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2019300"/>
            <a:ext cx="11811000" cy="52577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47544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0152AA6E-1A8C-A42D-344E-C811AB58A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xmlns="" id="{EB7F1E1F-336A-607D-2868-6C57FF54EB44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xmlns="" id="{63528BA9-EE0E-A6F8-4A8C-6DFC964B206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xmlns="" id="{6E25C449-B344-E643-12F7-C89DEE4255EA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8(C)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xmlns="" id="{4C22D2BC-F5CA-423B-6FD6-94172693045D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xmlns="" id="{F6670B32-1168-757A-3D40-FDD55687DCF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xmlns="" id="{0D3BB7FD-57C6-C09A-D875-135D505A8E1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xmlns="" id="{067A86AC-A2D1-3F33-5857-9F69983F71BB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xmlns="" id="{D9EADC3C-D136-0700-9300-4D8E867EC53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xmlns="" id="{A8EAD5F3-3FC4-819A-6ECD-0BC55C92A2B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xmlns="" id="{1671F77B-B3A5-F8B6-AC67-6EF88CA95877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xmlns="" id="{1303025A-EF3E-710E-2DBD-D89F29B8499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xmlns="" id="{76E7D281-CC96-92C2-C2F7-583674F0609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xmlns="" id="{E0D02FED-C5F4-9CC7-F1F5-E75E542840A9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xmlns="" id="{384D1E33-434F-2FA0-56CC-F24058D8639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xmlns="" id="{F2FC0DCA-FB2A-610C-A8DB-76CE251A57D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xmlns="" id="{4CA1DB61-05A2-042F-9815-00DBC40D0556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xmlns="" id="{67E4E958-360B-28EF-052B-EDDBDD5F40F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xmlns="" id="{BEDBF5CC-2720-E821-001C-11BCB7273E2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xmlns="" id="{6B96629A-6996-B0D7-13D6-0FA011422666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xmlns="" id="{912F1ED8-E3AD-E90A-10CE-D50A8F7D91A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xmlns="" id="{00E45F23-6E8F-F601-2EB3-537A898E704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xmlns="" id="{A40D6715-3580-0B1B-2305-C7ED6083AE85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xmlns="" id="{11A59530-4B7F-6C6B-290E-578EA30200D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xmlns="" id="{9BDCE736-251A-5B70-853E-A0A9A174F36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xmlns="" id="{8249BDCF-E07B-269B-D039-A4360C0FE2B4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xmlns="" id="{6F6B04FD-3FAC-90A2-4C1A-D809D058C0A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xmlns="" id="{BEE5C092-697C-26F6-D6E0-477F151E7CA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xmlns="" id="{FF80FEAE-01A3-1956-FB30-BED14CA86273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xmlns="" id="{2E8D2AB5-8B00-D9B4-469D-07CAE4ECF9C8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xmlns="" id="{F9F17E25-114F-438B-701A-7788D333F33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xmlns="" id="{1C4B6667-B2EE-BA32-402F-04368D88D5C4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xmlns="" id="{9B953180-DB27-F046-86E3-E3508247B406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341A1FDE-E3AB-682A-64B7-DA145F23EB91}"/>
              </a:ext>
            </a:extLst>
          </p:cNvPr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38" name="Rectangle 37"/>
          <p:cNvSpPr/>
          <p:nvPr/>
        </p:nvSpPr>
        <p:spPr>
          <a:xfrm>
            <a:off x="2133600" y="8039100"/>
            <a:ext cx="146304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 smtClean="0"/>
              <a:t>Explanation:</a:t>
            </a:r>
            <a:r>
              <a:rPr lang="en-US" sz="3200" dirty="0" smtClean="0"/>
              <a:t/>
            </a:r>
            <a:br>
              <a:rPr lang="en-US" sz="3200" dirty="0" smtClean="0"/>
            </a:br>
            <a:r>
              <a:rPr lang="en-US" sz="3200" dirty="0" smtClean="0"/>
              <a:t>The output page shows instant results after submission, including total marks, performance summary, and detailed score analysis</a:t>
            </a:r>
            <a:r>
              <a:rPr lang="en-US" dirty="0" smtClean="0"/>
              <a:t>.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19400" y="1638300"/>
            <a:ext cx="12039600" cy="6080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84889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93EBAB55-7601-3C41-6F10-EE0F67F77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xmlns="" id="{B9E2C662-B058-485B-BFC3-199F93F6D154}"/>
              </a:ext>
            </a:extLst>
          </p:cNvPr>
          <p:cNvGrpSpPr/>
          <p:nvPr/>
        </p:nvGrpSpPr>
        <p:grpSpPr>
          <a:xfrm>
            <a:off x="735588" y="7321525"/>
            <a:ext cx="992463" cy="992463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xmlns="" id="{F125CA7A-BCD4-5B7F-7069-AE7F5BD10A9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xmlns="" id="{07E08158-57E2-530C-A7FD-5AF72088CFEA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xmlns="" id="{CB09EB64-B1EE-DA7A-E7DC-97163FE53167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xmlns="" id="{4B04A57D-53E9-134E-70C7-51485932A21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xmlns="" id="{AC0A25AD-0459-BAEA-2E7B-0D9279AE1BC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xmlns="" id="{E0EBC171-BEE8-2D5E-8755-EE50B2570259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xmlns="" id="{E4000A93-AB8F-B573-E218-7434988FD58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xmlns="" id="{1228826C-BC2E-0DA0-107F-341F9D1A494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xmlns="" id="{7FD594E4-E181-FD3B-1C72-DE2D718C274A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xmlns="" id="{C16DA90C-521A-EFE9-8EE9-CB3967A5095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xmlns="" id="{5A678428-7466-DB88-0126-41232DE4A0D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xmlns="" id="{91D279A8-BDAA-B12E-DD4B-9978E9D5005C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xmlns="" id="{308F1BB3-7F58-DE0C-71F1-9782E090619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xmlns="" id="{35F43F9B-B904-0414-7AA7-1E7959C4C9E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xmlns="" id="{311E9EBB-A9CE-A64F-FF44-F82C0D52AC32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xmlns="" id="{DED3A9EA-E50F-553B-EDAA-87F95FD2280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xmlns="" id="{7E9C7CEA-D993-4107-0776-54AC90E2062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xmlns="" id="{7B397A27-1CC9-9661-DA24-10B3E1042399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xmlns="" id="{2A8CD899-9C63-11A3-805F-4CA0E12C7CB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xmlns="" id="{1976C224-9A36-532E-5E8B-B738C9FBC3F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6" name="Group 26">
            <a:extLst>
              <a:ext uri="{FF2B5EF4-FFF2-40B4-BE49-F238E27FC236}">
                <a16:creationId xmlns:a16="http://schemas.microsoft.com/office/drawing/2014/main" xmlns="" id="{E8CFE39F-6666-6E69-8980-5B55F6D56478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xmlns="" id="{F859737D-AFDF-BDFC-6651-3B954F2DD46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xmlns="" id="{B7B59B44-AD68-1549-9F86-A09D82459B5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9" name="Group 29">
            <a:extLst>
              <a:ext uri="{FF2B5EF4-FFF2-40B4-BE49-F238E27FC236}">
                <a16:creationId xmlns:a16="http://schemas.microsoft.com/office/drawing/2014/main" xmlns="" id="{3FACABC2-D51C-1EF5-0D1B-34B410283F2E}"/>
              </a:ext>
            </a:extLst>
          </p:cNvPr>
          <p:cNvGrpSpPr/>
          <p:nvPr/>
        </p:nvGrpSpPr>
        <p:grpSpPr>
          <a:xfrm>
            <a:off x="977741" y="6653894"/>
            <a:ext cx="508158" cy="543805"/>
            <a:chOff x="0" y="0"/>
            <a:chExt cx="812800" cy="869819"/>
          </a:xfrm>
        </p:grpSpPr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xmlns="" id="{6DD43112-BD1E-86D9-D9C6-3C97559FC56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xmlns="" id="{C34845E4-4A4B-0A81-5A55-14004816579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sp>
        <p:nvSpPr>
          <p:cNvPr id="32" name="Freeform 32">
            <a:extLst>
              <a:ext uri="{FF2B5EF4-FFF2-40B4-BE49-F238E27FC236}">
                <a16:creationId xmlns:a16="http://schemas.microsoft.com/office/drawing/2014/main" xmlns="" id="{05CB8E9D-B497-44FF-DB18-7D166BD2DA61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4" name="Group 44">
            <a:extLst>
              <a:ext uri="{FF2B5EF4-FFF2-40B4-BE49-F238E27FC236}">
                <a16:creationId xmlns:a16="http://schemas.microsoft.com/office/drawing/2014/main" xmlns="" id="{FBD0A79F-CA0B-2560-37ED-E07624B11027}"/>
              </a:ext>
            </a:extLst>
          </p:cNvPr>
          <p:cNvGrpSpPr/>
          <p:nvPr/>
        </p:nvGrpSpPr>
        <p:grpSpPr>
          <a:xfrm>
            <a:off x="16786360" y="-353712"/>
            <a:ext cx="10994424" cy="10994424"/>
            <a:chOff x="0" y="0"/>
            <a:chExt cx="812800" cy="812800"/>
          </a:xfrm>
        </p:grpSpPr>
        <p:sp>
          <p:nvSpPr>
            <p:cNvPr id="45" name="Freeform 45">
              <a:extLst>
                <a:ext uri="{FF2B5EF4-FFF2-40B4-BE49-F238E27FC236}">
                  <a16:creationId xmlns:a16="http://schemas.microsoft.com/office/drawing/2014/main" xmlns="" id="{25583CD3-FA12-1B53-043B-9FE4E18BA02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19125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46" name="TextBox 46">
              <a:extLst>
                <a:ext uri="{FF2B5EF4-FFF2-40B4-BE49-F238E27FC236}">
                  <a16:creationId xmlns:a16="http://schemas.microsoft.com/office/drawing/2014/main" xmlns="" id="{FA405478-0BA8-4A85-A81A-B9346174FE6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BC926643-39EA-932E-6755-230476B3078D}"/>
              </a:ext>
            </a:extLst>
          </p:cNvPr>
          <p:cNvSpPr txBox="1"/>
          <p:nvPr/>
        </p:nvSpPr>
        <p:spPr>
          <a:xfrm>
            <a:off x="0" y="4953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&amp; LIMITATIONS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97" name="Rectangle 1"/>
          <p:cNvSpPr>
            <a:spLocks noChangeArrowheads="1"/>
          </p:cNvSpPr>
          <p:nvPr/>
        </p:nvSpPr>
        <p:spPr bwMode="auto">
          <a:xfrm>
            <a:off x="2895600" y="1910358"/>
            <a:ext cx="13894521" cy="67710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Advantages: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Reduces manual work and paperwork through full automation.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Provides instant result generation with high accuracy.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Ensures secure login and minimizes chances of paper leakage.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Saves time for students, faculty, and administrators.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Stores data centrally for easy access and performance analysis.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3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Limitations: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Requires stable internet connection for smooth operation.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Technical issues or server failure may affect exam conduction.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Limited evaluation for descriptive/subjective answers (if fully automated).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Initial setup and maintenance cost may be high.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838976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2"/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print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3" name="TextBox 43"/>
          <p:cNvSpPr txBox="1"/>
          <p:nvPr/>
        </p:nvSpPr>
        <p:spPr>
          <a:xfrm>
            <a:off x="3200400" y="4486172"/>
            <a:ext cx="11159653" cy="1314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149"/>
              </a:lnSpc>
            </a:pPr>
            <a:r>
              <a:rPr lang="en-US" sz="11153" b="1" i="1" dirty="0">
                <a:solidFill>
                  <a:srgbClr val="191919"/>
                </a:solidFill>
                <a:latin typeface="Gotham Bold Italics"/>
                <a:ea typeface="Gotham Bold Italics"/>
                <a:cs typeface="Gotham Bold Italics"/>
                <a:sym typeface="Gotham Bold Italics"/>
              </a:rPr>
              <a:t>Thank you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6786360" y="-353712"/>
            <a:ext cx="10994424" cy="10994424"/>
            <a:chOff x="0" y="0"/>
            <a:chExt cx="812800" cy="812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19125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</TotalTime>
  <Words>841</Words>
  <Application>Microsoft Office PowerPoint</Application>
  <PresentationFormat>Custom</PresentationFormat>
  <Paragraphs>320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Calibri</vt:lpstr>
      <vt:lpstr>Cambria</vt:lpstr>
      <vt:lpstr>Bookman Old Style</vt:lpstr>
      <vt:lpstr>Times New Roman</vt:lpstr>
      <vt:lpstr>Gotham</vt:lpstr>
      <vt:lpstr>Wingdings</vt:lpstr>
      <vt:lpstr>Gotham Bold Italics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Orange Simple Portfolio Presentation</dc:title>
  <dc:creator>silpa reddy</dc:creator>
  <cp:lastModifiedBy>silpa reddy</cp:lastModifiedBy>
  <cp:revision>23</cp:revision>
  <dcterms:created xsi:type="dcterms:W3CDTF">2006-08-16T00:00:00Z</dcterms:created>
  <dcterms:modified xsi:type="dcterms:W3CDTF">2026-03-22T15:36:58Z</dcterms:modified>
  <dc:identifier>DAHCaYqJ9OU</dc:identifier>
</cp:coreProperties>
</file>